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466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566172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F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502920" y="502920"/>
            <a:ext cx="2560320" cy="347472"/>
          </a:xfrm>
          <a:prstGeom prst="roundRect">
            <a:avLst>
              <a:gd name="adj" fmla="val 13158"/>
            </a:avLst>
          </a:prstGeom>
          <a:solidFill>
            <a:srgbClr val="10B981">
              <a:alpha val="80000"/>
            </a:srgbClr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502920" y="50292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IBM SKILLSBUILD — DATA ANALYTICS INTERN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502920" y="105156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PlantScan AI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502920" y="1810512"/>
            <a:ext cx="713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34D3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Plant Health Prediction System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502920" y="2514600"/>
            <a:ext cx="4572000" cy="3657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502920" y="2633472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· Transfer Learning · Computer Vision · Flask Deployment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301752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89% Accuracy · 15 Disease Classes · 3 Plant Species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2920" y="4480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Smit Velani  •  IBM SkillsBuild Data Analytics Intern  •  CSRBOX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2920" y="4069080"/>
            <a:ext cx="1298448" cy="274320"/>
          </a:xfrm>
          <a:prstGeom prst="rect">
            <a:avLst/>
          </a:prstGeom>
          <a:solidFill>
            <a:srgbClr val="1E3A1E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502920" y="4069080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4D399"/>
                </a:solidFill>
              </a:rPr>
              <a:t>Python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1920240" y="4069080"/>
            <a:ext cx="1298448" cy="274320"/>
          </a:xfrm>
          <a:prstGeom prst="rect">
            <a:avLst/>
          </a:prstGeom>
          <a:solidFill>
            <a:srgbClr val="1E3A1E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1920240" y="4069080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4D399"/>
                </a:solidFill>
              </a:rPr>
              <a:t>Flask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3337560" y="4069080"/>
            <a:ext cx="1298448" cy="274320"/>
          </a:xfrm>
          <a:prstGeom prst="rect">
            <a:avLst/>
          </a:prstGeom>
          <a:solidFill>
            <a:srgbClr val="1E3A1E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337560" y="4069080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4D399"/>
                </a:solidFill>
              </a:rPr>
              <a:t>TensorFlow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4754880" y="4069080"/>
            <a:ext cx="1298448" cy="274320"/>
          </a:xfrm>
          <a:prstGeom prst="rect">
            <a:avLst/>
          </a:prstGeom>
          <a:solidFill>
            <a:srgbClr val="1E3A1E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4754880" y="4069080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4D399"/>
                </a:solidFill>
              </a:rPr>
              <a:t>OpenCV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6172200" y="4069080"/>
            <a:ext cx="1298448" cy="274320"/>
          </a:xfrm>
          <a:prstGeom prst="rect">
            <a:avLst/>
          </a:prstGeom>
          <a:solidFill>
            <a:srgbClr val="1E3A1E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6172200" y="4069080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4D399"/>
                </a:solidFill>
              </a:rPr>
              <a:t>MobileNetV2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7589520" y="4069080"/>
            <a:ext cx="1298448" cy="274320"/>
          </a:xfrm>
          <a:prstGeom prst="rect">
            <a:avLst/>
          </a:prstGeom>
          <a:solidFill>
            <a:srgbClr val="1E3A1E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7589520" y="4069080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4D399"/>
                </a:solidFill>
              </a:rPr>
              <a:t>Keras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F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1148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Project Overview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804671"/>
            <a:ext cx="8668512" cy="45719"/>
          </a:xfrm>
          <a:prstGeom prst="rect">
            <a:avLst/>
          </a:prstGeom>
          <a:solidFill>
            <a:srgbClr val="1E3A1E"/>
          </a:solidFill>
          <a:ln w="12700">
            <a:solidFill>
              <a:srgbClr val="1E3A1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11480" y="960120"/>
            <a:ext cx="2029968" cy="1371600"/>
          </a:xfrm>
          <a:prstGeom prst="rect">
            <a:avLst/>
          </a:prstGeom>
          <a:solidFill>
            <a:srgbClr val="112911"/>
          </a:solidFill>
          <a:ln w="1270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411480" y="960120"/>
            <a:ext cx="2029968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11480" y="1078992"/>
            <a:ext cx="20299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89%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411480" y="1664208"/>
            <a:ext cx="202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Accuracy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" y="1920240"/>
            <a:ext cx="202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Validation accuracy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624328" y="960120"/>
            <a:ext cx="2029968" cy="1371600"/>
          </a:xfrm>
          <a:prstGeom prst="rect">
            <a:avLst/>
          </a:prstGeom>
          <a:solidFill>
            <a:srgbClr val="112911"/>
          </a:solidFill>
          <a:ln w="1270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2624328" y="960120"/>
            <a:ext cx="2029968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2" name="Text 10"/>
          <p:cNvSpPr/>
          <p:nvPr/>
        </p:nvSpPr>
        <p:spPr>
          <a:xfrm>
            <a:off x="2624328" y="1078992"/>
            <a:ext cx="20299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15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2624328" y="1664208"/>
            <a:ext cx="202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Disease Classes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624328" y="1920240"/>
            <a:ext cx="202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Pepper · Potato · Tomato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837176" y="960120"/>
            <a:ext cx="2029968" cy="1371600"/>
          </a:xfrm>
          <a:prstGeom prst="rect">
            <a:avLst/>
          </a:prstGeom>
          <a:solidFill>
            <a:srgbClr val="112911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4837176" y="960120"/>
            <a:ext cx="2029968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4837176" y="1078992"/>
            <a:ext cx="20299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4837176" y="1664208"/>
            <a:ext cx="202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Plant Species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37176" y="1920240"/>
            <a:ext cx="202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Covered by model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050024" y="960120"/>
            <a:ext cx="2029968" cy="1371600"/>
          </a:xfrm>
          <a:prstGeom prst="rect">
            <a:avLst/>
          </a:prstGeom>
          <a:solidFill>
            <a:srgbClr val="112911"/>
          </a:solidFill>
          <a:ln w="12700">
            <a:solidFill>
              <a:srgbClr val="A855F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7050024" y="960120"/>
            <a:ext cx="2029968" cy="54864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7050024" y="1078992"/>
            <a:ext cx="20299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A855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16K+</a:t>
            </a:r>
            <a:endParaRPr lang="en-US" sz="3600" dirty="0"/>
          </a:p>
        </p:txBody>
      </p:sp>
      <p:sp>
        <p:nvSpPr>
          <p:cNvPr id="23" name="Text 21"/>
          <p:cNvSpPr/>
          <p:nvPr/>
        </p:nvSpPr>
        <p:spPr>
          <a:xfrm>
            <a:off x="7050024" y="1664208"/>
            <a:ext cx="202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Images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050024" y="1920240"/>
            <a:ext cx="202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PlantVillage dataset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11480" y="25786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4D399"/>
                </a:solidFill>
              </a:rPr>
              <a:t>What This System Does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411480" y="2999232"/>
            <a:ext cx="8412480" cy="384048"/>
          </a:xfrm>
          <a:prstGeom prst="rect">
            <a:avLst/>
          </a:prstGeom>
          <a:solidFill>
            <a:srgbClr val="112911"/>
          </a:solidFill>
          <a:ln w="12700">
            <a:solidFill>
              <a:srgbClr val="1E3A1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548640" y="2999232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F5EA"/>
                </a:solidFill>
              </a:rPr>
              <a:t>📷  User uploads a leaf image via drag-and-drop web interface built with Flask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11480" y="3474720"/>
            <a:ext cx="8412480" cy="384048"/>
          </a:xfrm>
          <a:prstGeom prst="rect">
            <a:avLst/>
          </a:prstGeom>
          <a:solidFill>
            <a:srgbClr val="112911"/>
          </a:solidFill>
          <a:ln w="12700">
            <a:solidFill>
              <a:srgbClr val="1E3A1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548640" y="347472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F5EA"/>
                </a:solidFill>
              </a:rPr>
              <a:t>🔧  OpenCV preprocesses the image — resize, denoise, normalise, extract features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11480" y="3950208"/>
            <a:ext cx="8412480" cy="384048"/>
          </a:xfrm>
          <a:prstGeom prst="rect">
            <a:avLst/>
          </a:prstGeom>
          <a:solidFill>
            <a:srgbClr val="112911"/>
          </a:solidFill>
          <a:ln w="12700">
            <a:solidFill>
              <a:srgbClr val="1E3A1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548640" y="395020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F5EA"/>
                </a:solidFill>
              </a:rPr>
              <a:t>🧠  MobileNetV2 CNN predicts the disease with confidence score across 15 classes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11480" y="4425696"/>
            <a:ext cx="8412480" cy="384048"/>
          </a:xfrm>
          <a:prstGeom prst="rect">
            <a:avLst/>
          </a:prstGeom>
          <a:solidFill>
            <a:srgbClr val="112911"/>
          </a:solidFill>
          <a:ln w="12700">
            <a:solidFill>
              <a:srgbClr val="1E3A1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548640" y="4425696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F5EA"/>
                </a:solidFill>
              </a:rPr>
              <a:t>💊  System returns diagnosis, severity level, treatment &amp; prevention recommendations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F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1148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System Pipeline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 flipV="1">
            <a:off x="411480" y="758953"/>
            <a:ext cx="8567928" cy="45719"/>
          </a:xfrm>
          <a:prstGeom prst="rect">
            <a:avLst/>
          </a:prstGeom>
          <a:solidFill>
            <a:srgbClr val="1E3A1E"/>
          </a:solidFill>
          <a:ln w="12700">
            <a:solidFill>
              <a:srgbClr val="1E3A1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347472" y="1005840"/>
            <a:ext cx="1993392" cy="2651760"/>
          </a:xfrm>
          <a:prstGeom prst="rect">
            <a:avLst/>
          </a:prstGeom>
          <a:solidFill>
            <a:srgbClr val="112911"/>
          </a:solidFill>
          <a:ln w="1270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347472" y="1005840"/>
            <a:ext cx="1993392" cy="731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1078992" y="1115568"/>
            <a:ext cx="502920" cy="50292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1078992" y="11155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47472" y="1719072"/>
            <a:ext cx="1993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891B2"/>
                </a:solidFill>
              </a:rPr>
              <a:t>Image Upload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76072" y="2084832"/>
            <a:ext cx="1536192" cy="237744"/>
          </a:xfrm>
          <a:prstGeom prst="rect">
            <a:avLst/>
          </a:prstGeom>
          <a:solidFill>
            <a:srgbClr val="1E3A1E"/>
          </a:solidFill>
          <a:ln w="12700">
            <a:solidFill>
              <a:srgbClr val="1E3A1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576072" y="2084832"/>
            <a:ext cx="1536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4D399"/>
                </a:solidFill>
              </a:rPr>
              <a:t>Flask API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2423160"/>
            <a:ext cx="19933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</a:rPr>
              <a:t>Drag &amp; drop UI</a:t>
            </a:r>
            <a:endParaRPr lang="en-US" sz="10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</a:rPr>
              <a:t>JPG/PNG support</a:t>
            </a:r>
            <a:endParaRPr lang="en-US" sz="10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</a:rPr>
              <a:t>Up to 16MB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340864" y="2212848"/>
            <a:ext cx="201168" cy="3657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2560320" y="1005840"/>
            <a:ext cx="1993392" cy="2651760"/>
          </a:xfrm>
          <a:prstGeom prst="rect">
            <a:avLst/>
          </a:prstGeom>
          <a:solidFill>
            <a:srgbClr val="112911"/>
          </a:solidFill>
          <a:ln w="1270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2560320" y="1005840"/>
            <a:ext cx="1993392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3291840" y="1115568"/>
            <a:ext cx="502920" cy="50292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3291840" y="11155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560320" y="1719072"/>
            <a:ext cx="1993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0B981"/>
                </a:solidFill>
              </a:rPr>
              <a:t>OpenCV Pipeline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88920" y="2084832"/>
            <a:ext cx="1536192" cy="237744"/>
          </a:xfrm>
          <a:prstGeom prst="rect">
            <a:avLst/>
          </a:prstGeom>
          <a:solidFill>
            <a:srgbClr val="1E3A1E"/>
          </a:solidFill>
          <a:ln w="12700">
            <a:solidFill>
              <a:srgbClr val="1E3A1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2788920" y="2084832"/>
            <a:ext cx="1536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4D399"/>
                </a:solidFill>
              </a:rPr>
              <a:t>preprocessor.py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2560320" y="2423160"/>
            <a:ext cx="19933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</a:rPr>
              <a:t>Resize 224×224</a:t>
            </a:r>
            <a:endParaRPr lang="en-US" sz="10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</a:rPr>
              <a:t>Denoise · Normalise</a:t>
            </a:r>
            <a:endParaRPr lang="en-US" sz="10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</a:rPr>
              <a:t>Feature extraction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53712" y="2212848"/>
            <a:ext cx="201168" cy="3657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4773168" y="1005840"/>
            <a:ext cx="1993392" cy="2651760"/>
          </a:xfrm>
          <a:prstGeom prst="rect">
            <a:avLst/>
          </a:prstGeom>
          <a:solidFill>
            <a:srgbClr val="112911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4773168" y="1005840"/>
            <a:ext cx="1993392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5504688" y="1115568"/>
            <a:ext cx="502920" cy="5029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5504688" y="11155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773168" y="1719072"/>
            <a:ext cx="1993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9E0B"/>
                </a:solidFill>
              </a:rPr>
              <a:t>CNN Inference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001768" y="2084832"/>
            <a:ext cx="1536192" cy="237744"/>
          </a:xfrm>
          <a:prstGeom prst="rect">
            <a:avLst/>
          </a:prstGeom>
          <a:solidFill>
            <a:srgbClr val="1E3A1E"/>
          </a:solidFill>
          <a:ln w="12700">
            <a:solidFill>
              <a:srgbClr val="1E3A1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5001768" y="2084832"/>
            <a:ext cx="1536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4D399"/>
                </a:solidFill>
              </a:rPr>
              <a:t>predictor.py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773168" y="2423160"/>
            <a:ext cx="19933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</a:rPr>
              <a:t>MobileNetV2</a:t>
            </a:r>
            <a:endParaRPr lang="en-US" sz="10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</a:rPr>
              <a:t>Softmax output</a:t>
            </a:r>
            <a:endParaRPr lang="en-US" sz="10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</a:rPr>
              <a:t>15-class prediction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766560" y="2212848"/>
            <a:ext cx="201168" cy="3657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6986016" y="1005840"/>
            <a:ext cx="1993392" cy="2651760"/>
          </a:xfrm>
          <a:prstGeom prst="rect">
            <a:avLst/>
          </a:prstGeom>
          <a:solidFill>
            <a:srgbClr val="112911"/>
          </a:solidFill>
          <a:ln w="12700">
            <a:solidFill>
              <a:srgbClr val="A855F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6986016" y="1005840"/>
            <a:ext cx="1993392" cy="73152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7717536" y="1115568"/>
            <a:ext cx="502920" cy="502920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7717536" y="11155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986016" y="1719072"/>
            <a:ext cx="1993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A855F7"/>
                </a:solidFill>
              </a:rPr>
              <a:t>Results Display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7214616" y="2084832"/>
            <a:ext cx="1536192" cy="237744"/>
          </a:xfrm>
          <a:prstGeom prst="rect">
            <a:avLst/>
          </a:prstGeom>
          <a:solidFill>
            <a:srgbClr val="1E3A1E"/>
          </a:solidFill>
          <a:ln w="12700">
            <a:solidFill>
              <a:srgbClr val="1E3A1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7214616" y="2084832"/>
            <a:ext cx="1536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4D399"/>
                </a:solidFill>
              </a:rPr>
              <a:t>index.html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6986016" y="2423160"/>
            <a:ext cx="19933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</a:rPr>
              <a:t>Confidence score</a:t>
            </a:r>
            <a:endParaRPr lang="en-US" sz="10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</a:rPr>
              <a:t>Treatment advice</a:t>
            </a:r>
            <a:endParaRPr lang="en-US" sz="10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</a:rPr>
              <a:t>Top 5 predictions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11480" y="384048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Input: Any leaf image (JPG/PNG)     →     Output: Disease diagnosis + Treatment + Confidence score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11480" y="4206240"/>
            <a:ext cx="8412480" cy="640080"/>
          </a:xfrm>
          <a:prstGeom prst="rect">
            <a:avLst/>
          </a:prstGeom>
          <a:solidFill>
            <a:srgbClr val="11291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594360" y="42062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4D399"/>
                </a:solidFill>
              </a:rPr>
              <a:t>▶  python main.py   →   http://localhost:5000   →   Upload leaf   →   Instant diagnosis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F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1148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CNN Model — MobileNetV2 Transfer Learning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804672"/>
            <a:ext cx="8412480" cy="27432"/>
          </a:xfrm>
          <a:prstGeom prst="rect">
            <a:avLst/>
          </a:prstGeom>
          <a:solidFill>
            <a:srgbClr val="1E3A1E"/>
          </a:solidFill>
          <a:ln w="12700">
            <a:solidFill>
              <a:srgbClr val="1E3A1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502920" y="1005840"/>
            <a:ext cx="7772400" cy="475488"/>
          </a:xfrm>
          <a:prstGeom prst="rect">
            <a:avLst/>
          </a:prstGeom>
          <a:solidFill>
            <a:srgbClr val="112911"/>
          </a:solidFill>
          <a:ln w="1270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502920" y="1005840"/>
            <a:ext cx="64008" cy="47548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640080" y="1042416"/>
            <a:ext cx="42748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MobileNetV2 Base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1261872"/>
            <a:ext cx="7498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ImageNet weights — 2.26M params — FROZEN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188720" y="1664208"/>
            <a:ext cx="6400800" cy="475488"/>
          </a:xfrm>
          <a:prstGeom prst="rect">
            <a:avLst/>
          </a:prstGeom>
          <a:solidFill>
            <a:srgbClr val="112911"/>
          </a:solidFill>
          <a:ln w="1270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1188720" y="1664208"/>
            <a:ext cx="64008" cy="47548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1325880" y="1700784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GlobalAveragePooling2D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325880" y="1920240"/>
            <a:ext cx="6126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Reduces 7×7×1280 → 1280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874520" y="2322576"/>
            <a:ext cx="5029200" cy="475488"/>
          </a:xfrm>
          <a:prstGeom prst="rect">
            <a:avLst/>
          </a:prstGeom>
          <a:solidFill>
            <a:srgbClr val="112911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1874520" y="2322576"/>
            <a:ext cx="64008" cy="47548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2011680" y="2359152"/>
            <a:ext cx="27660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Dense(256, ReLU) + Dropout(0.4)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011680" y="2578608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327,936 trainable params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468880" y="2980944"/>
            <a:ext cx="3840480" cy="475488"/>
          </a:xfrm>
          <a:prstGeom prst="rect">
            <a:avLst/>
          </a:prstGeom>
          <a:solidFill>
            <a:srgbClr val="112911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2468880" y="2980944"/>
            <a:ext cx="64008" cy="47548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2606040" y="3017520"/>
            <a:ext cx="2112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Dense(128, ReLU) + Dropout(0.3)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606040" y="3236976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32,896 trainable params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017520" y="3639312"/>
            <a:ext cx="2743200" cy="475488"/>
          </a:xfrm>
          <a:prstGeom prst="rect">
            <a:avLst/>
          </a:prstGeom>
          <a:solidFill>
            <a:srgbClr val="112911"/>
          </a:solidFill>
          <a:ln w="12700">
            <a:solidFill>
              <a:srgbClr val="A855F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3017520" y="3639312"/>
            <a:ext cx="64008" cy="475488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3154680" y="3675888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Dense(15, Softmax)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154680" y="3895344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Output — 15 disease class probabilities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11480" y="437083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4D399"/>
                </a:solidFill>
              </a:rPr>
              <a:t>Two-Phase Training Strategy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11480" y="4645152"/>
            <a:ext cx="5120640" cy="274320"/>
          </a:xfrm>
          <a:prstGeom prst="rect">
            <a:avLst/>
          </a:prstGeom>
          <a:solidFill>
            <a:srgbClr val="11291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502920" y="46451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F5EA"/>
                </a:solidFill>
              </a:rPr>
              <a:t>Phase 1: Train top layers (10 epochs, lr=1e-3)   |   Phase 2: Fine-tune top 50 base layers (5 epochs, lr=1e-5)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F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1148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OpenCV Preprocessing &amp; Feature Extraction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804672"/>
            <a:ext cx="8412480" cy="27432"/>
          </a:xfrm>
          <a:prstGeom prst="rect">
            <a:avLst/>
          </a:prstGeom>
          <a:solidFill>
            <a:srgbClr val="1E3A1E"/>
          </a:solidFill>
          <a:ln w="12700">
            <a:solidFill>
              <a:srgbClr val="1E3A1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411480" y="932688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4D399"/>
                </a:solidFill>
              </a:rPr>
              <a:t>Preprocessing Pipeline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1298448"/>
            <a:ext cx="4023360" cy="384048"/>
          </a:xfrm>
          <a:prstGeom prst="rect">
            <a:avLst/>
          </a:prstGeom>
          <a:solidFill>
            <a:srgbClr val="112911"/>
          </a:solidFill>
          <a:ln w="12700">
            <a:solidFill>
              <a:srgbClr val="1E3A1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475488" y="1344168"/>
            <a:ext cx="274320" cy="27432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475488" y="13441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22960" y="134416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F5EA"/>
                </a:solidFill>
              </a:rPr>
              <a:t>Load image with cv2.imread()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11480" y="1773936"/>
            <a:ext cx="4023360" cy="384048"/>
          </a:xfrm>
          <a:prstGeom prst="rect">
            <a:avLst/>
          </a:prstGeom>
          <a:solidFill>
            <a:srgbClr val="112911"/>
          </a:solidFill>
          <a:ln w="12700">
            <a:solidFill>
              <a:srgbClr val="1E3A1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75488" y="1819656"/>
            <a:ext cx="274320" cy="27432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475488" y="18196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22960" y="181965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F5EA"/>
                </a:solidFill>
              </a:rPr>
              <a:t>Resize to 224×224 (INTER_AREA interpolation)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1480" y="2249424"/>
            <a:ext cx="4023360" cy="384048"/>
          </a:xfrm>
          <a:prstGeom prst="rect">
            <a:avLst/>
          </a:prstGeom>
          <a:solidFill>
            <a:srgbClr val="112911"/>
          </a:solidFill>
          <a:ln w="12700">
            <a:solidFill>
              <a:srgbClr val="1E3A1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475488" y="2295144"/>
            <a:ext cx="274320" cy="2743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75488" y="22951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22960" y="229514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F5EA"/>
                </a:solidFill>
              </a:rPr>
              <a:t>Denoise — fastNlMeansDenoisingColored()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11480" y="2724912"/>
            <a:ext cx="4023360" cy="384048"/>
          </a:xfrm>
          <a:prstGeom prst="rect">
            <a:avLst/>
          </a:prstGeom>
          <a:solidFill>
            <a:srgbClr val="112911"/>
          </a:solidFill>
          <a:ln w="12700">
            <a:solidFill>
              <a:srgbClr val="1E3A1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475488" y="2770632"/>
            <a:ext cx="274320" cy="27432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475488" y="27706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22960" y="277063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F5EA"/>
                </a:solidFill>
              </a:rPr>
              <a:t>Convert BGR → RGB colour space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11480" y="3200400"/>
            <a:ext cx="4023360" cy="384048"/>
          </a:xfrm>
          <a:prstGeom prst="rect">
            <a:avLst/>
          </a:prstGeom>
          <a:solidFill>
            <a:srgbClr val="112911"/>
          </a:solidFill>
          <a:ln w="12700">
            <a:solidFill>
              <a:srgbClr val="1E3A1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475488" y="3246120"/>
            <a:ext cx="274320" cy="27432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475488" y="32461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5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22960" y="32461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F5EA"/>
                </a:solidFill>
              </a:rPr>
              <a:t>Normalise pixel values to [0, 1]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11480" y="3675888"/>
            <a:ext cx="4023360" cy="384048"/>
          </a:xfrm>
          <a:prstGeom prst="rect">
            <a:avLst/>
          </a:prstGeom>
          <a:solidFill>
            <a:srgbClr val="112911"/>
          </a:solidFill>
          <a:ln w="12700">
            <a:solidFill>
              <a:srgbClr val="1E3A1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475488" y="3721608"/>
            <a:ext cx="274320" cy="2743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475488" y="3721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6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822960" y="372160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F5EA"/>
                </a:solidFill>
              </a:rPr>
              <a:t>Expand dims → (1, 224, 224, 3) for model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663440" y="93268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4D399"/>
                </a:solidFill>
              </a:rPr>
              <a:t>Feature Extraction (per image)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663440" y="1298448"/>
            <a:ext cx="4114800" cy="384048"/>
          </a:xfrm>
          <a:prstGeom prst="rect">
            <a:avLst/>
          </a:prstGeom>
          <a:solidFill>
            <a:srgbClr val="11291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4754880" y="132588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🟢  Green Coverage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754880" y="1536192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HSV mask → healthy leaf %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663440" y="1773936"/>
            <a:ext cx="4114800" cy="384048"/>
          </a:xfrm>
          <a:prstGeom prst="rect">
            <a:avLst/>
          </a:prstGeom>
          <a:solidFill>
            <a:srgbClr val="112911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4754880" y="180136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🟤  Lesion Coverage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754880" y="2011680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Brown HSV range → disease %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663440" y="2249424"/>
            <a:ext cx="4114800" cy="384048"/>
          </a:xfrm>
          <a:prstGeom prst="rect">
            <a:avLst/>
          </a:prstGeom>
          <a:solidFill>
            <a:srgbClr val="112911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4754880" y="2276856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☀️  Brightness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754880" y="2487168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Mean pixel intensity /255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663440" y="2724912"/>
            <a:ext cx="4114800" cy="384048"/>
          </a:xfrm>
          <a:prstGeom prst="rect">
            <a:avLst/>
          </a:prstGeom>
          <a:solidFill>
            <a:srgbClr val="112911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4754880" y="2752344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📊  Contrast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754880" y="2962656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Std deviation of grayscale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663440" y="3200400"/>
            <a:ext cx="4114800" cy="384048"/>
          </a:xfrm>
          <a:prstGeom prst="rect">
            <a:avLst/>
          </a:prstGeom>
          <a:solidFill>
            <a:srgbClr val="112911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4754880" y="3227832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🔲  Texture Score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4754880" y="3438144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Laplacian variance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663440" y="3675888"/>
            <a:ext cx="4114800" cy="384048"/>
          </a:xfrm>
          <a:prstGeom prst="rect">
            <a:avLst/>
          </a:prstGeom>
          <a:solidFill>
            <a:srgbClr val="11291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/>
          <p:nvPr/>
        </p:nvSpPr>
        <p:spPr>
          <a:xfrm>
            <a:off x="4754880" y="370332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✏️  Edge Density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4754880" y="3913632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Canny edge detection %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F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1148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Supported Plants &amp; Disease Classes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804672"/>
            <a:ext cx="8412480" cy="27432"/>
          </a:xfrm>
          <a:prstGeom prst="rect">
            <a:avLst/>
          </a:prstGeom>
          <a:solidFill>
            <a:srgbClr val="1E3A1E"/>
          </a:solidFill>
          <a:ln w="12700">
            <a:solidFill>
              <a:srgbClr val="1E3A1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11480" y="960120"/>
            <a:ext cx="2651760" cy="4059936"/>
          </a:xfrm>
          <a:prstGeom prst="rect">
            <a:avLst/>
          </a:prstGeom>
          <a:solidFill>
            <a:srgbClr val="112911"/>
          </a:solidFill>
          <a:ln w="1270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411480" y="960120"/>
            <a:ext cx="265176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11480" y="105156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0B981"/>
                </a:solidFill>
              </a:rPr>
              <a:t>🫑  Pepper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051560" y="1417320"/>
            <a:ext cx="1371600" cy="256032"/>
          </a:xfrm>
          <a:prstGeom prst="roundRect">
            <a:avLst>
              <a:gd name="adj" fmla="val 17857"/>
            </a:avLst>
          </a:prstGeom>
          <a:solidFill>
            <a:srgbClr val="10B981">
              <a:alpha val="70000"/>
            </a:srgbClr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1051560" y="141732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 classes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17830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F5EA"/>
                </a:solidFill>
              </a:rPr>
              <a:t>▸  Bacterial Spot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211226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F5EA"/>
                </a:solidFill>
              </a:rPr>
              <a:t>▸  Healthy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91840" y="960120"/>
            <a:ext cx="2651760" cy="4059936"/>
          </a:xfrm>
          <a:prstGeom prst="rect">
            <a:avLst/>
          </a:prstGeom>
          <a:solidFill>
            <a:srgbClr val="112911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3291840" y="960120"/>
            <a:ext cx="265176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3291840" y="105156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9E0B"/>
                </a:solidFill>
              </a:rPr>
              <a:t>🥔  Potato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931920" y="1417320"/>
            <a:ext cx="1371600" cy="256032"/>
          </a:xfrm>
          <a:prstGeom prst="roundRect">
            <a:avLst>
              <a:gd name="adj" fmla="val 17857"/>
            </a:avLst>
          </a:prstGeom>
          <a:solidFill>
            <a:srgbClr val="F59E0B">
              <a:alpha val="70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3931920" y="141732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3 classes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429000" y="17830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F5EA"/>
                </a:solidFill>
              </a:rPr>
              <a:t>▸  Early Blight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429000" y="211226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F5EA"/>
                </a:solidFill>
              </a:rPr>
              <a:t>▸  Late Blight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429000" y="244144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F5EA"/>
                </a:solidFill>
              </a:rPr>
              <a:t>▸  Healthy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172200" y="960120"/>
            <a:ext cx="2788920" cy="4059936"/>
          </a:xfrm>
          <a:prstGeom prst="rect">
            <a:avLst/>
          </a:prstGeom>
          <a:solidFill>
            <a:srgbClr val="112911"/>
          </a:solidFill>
          <a:ln w="12700">
            <a:solidFill>
              <a:srgbClr val="EF444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6172200" y="960120"/>
            <a:ext cx="2788920" cy="5486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5966460" y="1042416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F4444"/>
                </a:solidFill>
              </a:rPr>
              <a:t>🍅  Tomato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606540" y="1417320"/>
            <a:ext cx="1920240" cy="256032"/>
          </a:xfrm>
          <a:prstGeom prst="roundRect">
            <a:avLst>
              <a:gd name="adj" fmla="val 17857"/>
            </a:avLst>
          </a:prstGeom>
          <a:solidFill>
            <a:srgbClr val="EF4444">
              <a:alpha val="70000"/>
            </a:srgbClr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6606540" y="141732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10 classes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309360" y="17830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F5EA"/>
                </a:solidFill>
              </a:rPr>
              <a:t>▸  Bacterial Spot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309360" y="211226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F5EA"/>
                </a:solidFill>
              </a:rPr>
              <a:t>▸  Early Blight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309360" y="244144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F5EA"/>
                </a:solidFill>
              </a:rPr>
              <a:t>▸  Late Blight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309360" y="277063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F5EA"/>
                </a:solidFill>
              </a:rPr>
              <a:t>▸  Leaf Mold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309360" y="309981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F5EA"/>
                </a:solidFill>
              </a:rPr>
              <a:t>▸  Septoria Leaf Spot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309360" y="34290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F5EA"/>
                </a:solidFill>
              </a:rPr>
              <a:t>▸  Spider Mites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309360" y="375818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F5EA"/>
                </a:solidFill>
              </a:rPr>
              <a:t>▸  Target Spot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309360" y="408736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F5EA"/>
                </a:solidFill>
              </a:rPr>
              <a:t>▸  Yellow Leaf Curl Virus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309360" y="44165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F5EA"/>
                </a:solidFill>
              </a:rPr>
              <a:t>▸  Mosaic Virus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309360" y="474573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F5EA"/>
                </a:solidFill>
              </a:rPr>
              <a:t>▸  Healthy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F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1148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 Performance &amp; Training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804672"/>
            <a:ext cx="8412480" cy="27432"/>
          </a:xfrm>
          <a:prstGeom prst="rect">
            <a:avLst/>
          </a:prstGeom>
          <a:solidFill>
            <a:srgbClr val="1E3A1E"/>
          </a:solidFill>
          <a:ln w="12700">
            <a:solidFill>
              <a:srgbClr val="1E3A1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11480" y="960120"/>
            <a:ext cx="2743200" cy="3200400"/>
          </a:xfrm>
          <a:prstGeom prst="rect">
            <a:avLst/>
          </a:prstGeom>
          <a:solidFill>
            <a:srgbClr val="112911"/>
          </a:solidFill>
          <a:ln w="1270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411480" y="960120"/>
            <a:ext cx="274320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11480" y="137160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89.18%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411480" y="23042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Validation Accuracy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" y="2633472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000" dirty="0">
                <a:solidFill>
                  <a:srgbClr val="94A3B8"/>
                </a:solidFill>
              </a:rPr>
              <a:t>Best model saved</a:t>
            </a:r>
            <a:endParaRPr lang="en-US" sz="10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000" dirty="0">
                <a:solidFill>
                  <a:srgbClr val="94A3B8"/>
                </a:solidFill>
              </a:rPr>
              <a:t>automatically via</a:t>
            </a:r>
            <a:endParaRPr lang="en-US" sz="10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000" dirty="0">
                <a:solidFill>
                  <a:srgbClr val="94A3B8"/>
                </a:solidFill>
              </a:rPr>
              <a:t>ModelCheckpoint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429000" y="960120"/>
            <a:ext cx="2560320" cy="594360"/>
          </a:xfrm>
          <a:prstGeom prst="rect">
            <a:avLst/>
          </a:prstGeom>
          <a:solidFill>
            <a:srgbClr val="112911"/>
          </a:solidFill>
          <a:ln w="12700">
            <a:solidFill>
              <a:srgbClr val="1E3A1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3520440" y="1005840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Dataset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520440" y="123444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4D399"/>
                </a:solidFill>
              </a:rPr>
              <a:t>PlantVillage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429000" y="1709928"/>
            <a:ext cx="2560320" cy="594360"/>
          </a:xfrm>
          <a:prstGeom prst="rect">
            <a:avLst/>
          </a:prstGeom>
          <a:solidFill>
            <a:srgbClr val="112911"/>
          </a:solidFill>
          <a:ln w="12700">
            <a:solidFill>
              <a:srgbClr val="1E3A1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3520440" y="1755648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Total Images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520440" y="198424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4D399"/>
                </a:solidFill>
              </a:rPr>
              <a:t>16,500+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429000" y="2459736"/>
            <a:ext cx="2560320" cy="594360"/>
          </a:xfrm>
          <a:prstGeom prst="rect">
            <a:avLst/>
          </a:prstGeom>
          <a:solidFill>
            <a:srgbClr val="112911"/>
          </a:solidFill>
          <a:ln w="12700">
            <a:solidFill>
              <a:srgbClr val="1E3A1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3520440" y="250545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Training Images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520440" y="273405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4D399"/>
                </a:solidFill>
              </a:rPr>
              <a:t>13,200+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429000" y="3209544"/>
            <a:ext cx="2560320" cy="594360"/>
          </a:xfrm>
          <a:prstGeom prst="rect">
            <a:avLst/>
          </a:prstGeom>
          <a:solidFill>
            <a:srgbClr val="112911"/>
          </a:solidFill>
          <a:ln w="12700">
            <a:solidFill>
              <a:srgbClr val="1E3A1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3520440" y="3255264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Validation Images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520440" y="348386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4D399"/>
                </a:solidFill>
              </a:rPr>
              <a:t>3,300+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172200" y="960120"/>
            <a:ext cx="2560320" cy="594360"/>
          </a:xfrm>
          <a:prstGeom prst="rect">
            <a:avLst/>
          </a:prstGeom>
          <a:solidFill>
            <a:srgbClr val="112911"/>
          </a:solidFill>
          <a:ln w="12700">
            <a:solidFill>
              <a:srgbClr val="1E3A1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6263640" y="1005840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Phase 1 Epochs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263640" y="123444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4D399"/>
                </a:solidFill>
              </a:rPr>
              <a:t>10 (lr = 1e-3)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172200" y="1709928"/>
            <a:ext cx="2560320" cy="594360"/>
          </a:xfrm>
          <a:prstGeom prst="rect">
            <a:avLst/>
          </a:prstGeom>
          <a:solidFill>
            <a:srgbClr val="112911"/>
          </a:solidFill>
          <a:ln w="12700">
            <a:solidFill>
              <a:srgbClr val="1E3A1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6263640" y="1755648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Phase 2 Epochs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263640" y="198424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4D399"/>
                </a:solidFill>
              </a:rPr>
              <a:t>5  (lr = 1e-5)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172200" y="2459736"/>
            <a:ext cx="2560320" cy="594360"/>
          </a:xfrm>
          <a:prstGeom prst="rect">
            <a:avLst/>
          </a:prstGeom>
          <a:solidFill>
            <a:srgbClr val="112911"/>
          </a:solidFill>
          <a:ln w="12700">
            <a:solidFill>
              <a:srgbClr val="1E3A1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6263640" y="250545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Batch Size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263640" y="273405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4D399"/>
                </a:solidFill>
              </a:rPr>
              <a:t>64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172200" y="3209544"/>
            <a:ext cx="2560320" cy="594360"/>
          </a:xfrm>
          <a:prstGeom prst="rect">
            <a:avLst/>
          </a:prstGeom>
          <a:solidFill>
            <a:srgbClr val="112911"/>
          </a:solidFill>
          <a:ln w="12700">
            <a:solidFill>
              <a:srgbClr val="1E3A1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6263640" y="3255264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Input Size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263640" y="348386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4D399"/>
                </a:solidFill>
              </a:rPr>
              <a:t>224 × 224 px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411480" y="4251960"/>
            <a:ext cx="8412480" cy="594360"/>
          </a:xfrm>
          <a:prstGeom prst="rect">
            <a:avLst/>
          </a:prstGeom>
          <a:solidFill>
            <a:srgbClr val="112911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548640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891B2"/>
                </a:solidFill>
              </a:rPr>
              <a:t>Callbacks Used: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48640" y="4535424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F5EA"/>
                </a:solidFill>
              </a:rPr>
              <a:t>ModelCheckpoint (save best)   ·   EarlyStopping (patience=5)   ·   ReduceLROnPlateau (factor=0.5, patience=3)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F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1148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Web Application &amp; Tech Stack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804672"/>
            <a:ext cx="8412480" cy="27432"/>
          </a:xfrm>
          <a:prstGeom prst="rect">
            <a:avLst/>
          </a:prstGeom>
          <a:solidFill>
            <a:srgbClr val="1E3A1E"/>
          </a:solidFill>
          <a:ln w="12700">
            <a:solidFill>
              <a:srgbClr val="1E3A1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411480" y="932688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4D399"/>
                </a:solidFill>
              </a:rPr>
              <a:t>Web App Features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1298448"/>
            <a:ext cx="1965960" cy="502920"/>
          </a:xfrm>
          <a:prstGeom prst="rect">
            <a:avLst/>
          </a:prstGeom>
          <a:solidFill>
            <a:srgbClr val="112911"/>
          </a:solidFill>
          <a:ln w="12700">
            <a:solidFill>
              <a:srgbClr val="1E3A1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502920" y="1344168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F5EA"/>
                </a:solidFill>
              </a:rPr>
              <a:t>🖱️  Drag &amp; drop image upload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11480" y="1956816"/>
            <a:ext cx="1965960" cy="502920"/>
          </a:xfrm>
          <a:prstGeom prst="rect">
            <a:avLst/>
          </a:prstGeom>
          <a:solidFill>
            <a:srgbClr val="112911"/>
          </a:solidFill>
          <a:ln w="12700">
            <a:solidFill>
              <a:srgbClr val="1E3A1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502920" y="2002536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F5EA"/>
                </a:solidFill>
              </a:rPr>
              <a:t>⚡  Real-time CNN prediction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11480" y="2615184"/>
            <a:ext cx="1965960" cy="502920"/>
          </a:xfrm>
          <a:prstGeom prst="rect">
            <a:avLst/>
          </a:prstGeom>
          <a:solidFill>
            <a:srgbClr val="112911"/>
          </a:solidFill>
          <a:ln w="12700">
            <a:solidFill>
              <a:srgbClr val="1E3A1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502920" y="2660904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F5EA"/>
                </a:solidFill>
              </a:rPr>
              <a:t>📊  6 OpenCV feature metrics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11480" y="3273552"/>
            <a:ext cx="1965960" cy="502920"/>
          </a:xfrm>
          <a:prstGeom prst="rect">
            <a:avLst/>
          </a:prstGeom>
          <a:solidFill>
            <a:srgbClr val="112911"/>
          </a:solidFill>
          <a:ln w="12700">
            <a:solidFill>
              <a:srgbClr val="1E3A1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502920" y="3319272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F5EA"/>
                </a:solidFill>
              </a:rPr>
              <a:t>🏆  Top 5 disease predictions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514600" y="1298448"/>
            <a:ext cx="1965960" cy="502920"/>
          </a:xfrm>
          <a:prstGeom prst="rect">
            <a:avLst/>
          </a:prstGeom>
          <a:solidFill>
            <a:srgbClr val="112911"/>
          </a:solidFill>
          <a:ln w="12700">
            <a:solidFill>
              <a:srgbClr val="1E3A1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2606040" y="1344168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F5EA"/>
                </a:solidFill>
              </a:rPr>
              <a:t>💊  Treatment recommendations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514600" y="1956816"/>
            <a:ext cx="1965960" cy="502920"/>
          </a:xfrm>
          <a:prstGeom prst="rect">
            <a:avLst/>
          </a:prstGeom>
          <a:solidFill>
            <a:srgbClr val="112911"/>
          </a:solidFill>
          <a:ln w="12700">
            <a:solidFill>
              <a:srgbClr val="1E3A1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2606040" y="2002536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F5EA"/>
                </a:solidFill>
              </a:rPr>
              <a:t>🛡️  Prevention guidelines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514600" y="2615184"/>
            <a:ext cx="1965960" cy="502920"/>
          </a:xfrm>
          <a:prstGeom prst="rect">
            <a:avLst/>
          </a:prstGeom>
          <a:solidFill>
            <a:srgbClr val="112911"/>
          </a:solidFill>
          <a:ln w="12700">
            <a:solidFill>
              <a:srgbClr val="1E3A1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2606040" y="2660904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F5EA"/>
                </a:solidFill>
              </a:rPr>
              <a:t>📱  Responsive dark UI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514600" y="3273552"/>
            <a:ext cx="1965960" cy="502920"/>
          </a:xfrm>
          <a:prstGeom prst="rect">
            <a:avLst/>
          </a:prstGeom>
          <a:solidFill>
            <a:srgbClr val="112911"/>
          </a:solidFill>
          <a:ln w="12700">
            <a:solidFill>
              <a:srgbClr val="1E3A1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2606040" y="3319272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F5EA"/>
                </a:solidFill>
              </a:rPr>
              <a:t>🔌  REST API (/predict endpoint)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663440" y="93268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4D399"/>
                </a:solidFill>
              </a:rPr>
              <a:t>Technology Stack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663440" y="1298448"/>
            <a:ext cx="1965960" cy="502920"/>
          </a:xfrm>
          <a:prstGeom prst="rect">
            <a:avLst/>
          </a:prstGeom>
          <a:solidFill>
            <a:srgbClr val="112911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4754880" y="1325880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891B2"/>
                </a:solidFill>
              </a:rPr>
              <a:t>Python 3.12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754880" y="1536192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Core Language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663440" y="1956816"/>
            <a:ext cx="1965960" cy="502920"/>
          </a:xfrm>
          <a:prstGeom prst="rect">
            <a:avLst/>
          </a:prstGeom>
          <a:solidFill>
            <a:srgbClr val="11291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4754880" y="1984248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</a:rPr>
              <a:t>Flask 3.0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754880" y="2194560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Web Framework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663440" y="2615184"/>
            <a:ext cx="1965960" cy="502920"/>
          </a:xfrm>
          <a:prstGeom prst="rect">
            <a:avLst/>
          </a:prstGeom>
          <a:solidFill>
            <a:srgbClr val="112911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4754880" y="2642616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</a:rPr>
              <a:t>TensorFlow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754880" y="2852928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Deep Learning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663440" y="3273552"/>
            <a:ext cx="1965960" cy="502920"/>
          </a:xfrm>
          <a:prstGeom prst="rect">
            <a:avLst/>
          </a:prstGeom>
          <a:solidFill>
            <a:srgbClr val="112911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4754880" y="3300984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4444"/>
                </a:solidFill>
              </a:rPr>
              <a:t>Keras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754880" y="3511296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Model API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766560" y="1298448"/>
            <a:ext cx="1965960" cy="502920"/>
          </a:xfrm>
          <a:prstGeom prst="rect">
            <a:avLst/>
          </a:prstGeom>
          <a:solidFill>
            <a:srgbClr val="112911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6858000" y="1325880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855F7"/>
                </a:solidFill>
              </a:rPr>
              <a:t>OpenCV 4.9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858000" y="1536192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Computer Vision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766560" y="1956816"/>
            <a:ext cx="1965960" cy="502920"/>
          </a:xfrm>
          <a:prstGeom prst="rect">
            <a:avLst/>
          </a:prstGeom>
          <a:solidFill>
            <a:srgbClr val="112911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6858000" y="1984248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891B2"/>
                </a:solidFill>
              </a:rPr>
              <a:t>NumPy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858000" y="2194560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Numerical Computing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766560" y="2615184"/>
            <a:ext cx="1965960" cy="502920"/>
          </a:xfrm>
          <a:prstGeom prst="rect">
            <a:avLst/>
          </a:prstGeom>
          <a:solidFill>
            <a:srgbClr val="11291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6858000" y="2642616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</a:rPr>
              <a:t>MobileNetV2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858000" y="2852928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CNN Architecture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6766560" y="3273552"/>
            <a:ext cx="1965960" cy="502920"/>
          </a:xfrm>
          <a:prstGeom prst="rect">
            <a:avLst/>
          </a:prstGeom>
          <a:solidFill>
            <a:srgbClr val="112911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6858000" y="3300984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</a:rPr>
              <a:t>PlantVillage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6858000" y="3511296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Training Dataset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F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1148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Skills Demonstrated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804672"/>
            <a:ext cx="8412480" cy="27432"/>
          </a:xfrm>
          <a:prstGeom prst="rect">
            <a:avLst/>
          </a:prstGeom>
          <a:solidFill>
            <a:srgbClr val="1E3A1E"/>
          </a:solidFill>
          <a:ln w="12700">
            <a:solidFill>
              <a:srgbClr val="1E3A1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11480" y="960120"/>
            <a:ext cx="8412480" cy="713232"/>
          </a:xfrm>
          <a:prstGeom prst="rect">
            <a:avLst/>
          </a:prstGeom>
          <a:solidFill>
            <a:srgbClr val="112911"/>
          </a:solidFill>
          <a:ln w="1270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411480" y="960120"/>
            <a:ext cx="64008" cy="71323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548640" y="1005840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</a:rPr>
              <a:t>Resume: Developed a plant health prediction system using Python and OpenCV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1271016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▶  MobileNetV2 CNN + Flask web app + OpenCV preprocessing pipeline fully deployed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11480" y="1764792"/>
            <a:ext cx="8412480" cy="713232"/>
          </a:xfrm>
          <a:prstGeom prst="rect">
            <a:avLst/>
          </a:prstGeom>
          <a:solidFill>
            <a:srgbClr val="112911"/>
          </a:solidFill>
          <a:ln w="1270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411480" y="1764792"/>
            <a:ext cx="64008" cy="71323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548640" y="1810512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</a:rPr>
              <a:t>Resume: Performed image preprocessing and feature extraction on plant leaf datasets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" y="2075688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▶  Resize · Denoise · Normalise · HSV masking · Laplacian texture · Canny edges · 6 features extracted per image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11480" y="2569464"/>
            <a:ext cx="8412480" cy="713232"/>
          </a:xfrm>
          <a:prstGeom prst="rect">
            <a:avLst/>
          </a:prstGeom>
          <a:solidFill>
            <a:srgbClr val="112911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411480" y="2569464"/>
            <a:ext cx="64008" cy="7132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548640" y="2615184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</a:rPr>
              <a:t>Resume: Built a machine learning model to detect plant diseases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48640" y="2880360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▶  MobileNetV2 Transfer Learning — 2.6M params — 15-class Softmax — 89.18% validation accuracy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11480" y="3374136"/>
            <a:ext cx="8412480" cy="713232"/>
          </a:xfrm>
          <a:prstGeom prst="rect">
            <a:avLst/>
          </a:prstGeom>
          <a:solidFill>
            <a:srgbClr val="112911"/>
          </a:solidFill>
          <a:ln w="12700">
            <a:solidFill>
              <a:srgbClr val="A855F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411480" y="3374136"/>
            <a:ext cx="64008" cy="713232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548640" y="3419856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</a:rPr>
              <a:t>Resume: Improved model performance through dataset tuning and optimization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48640" y="3685032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▶  Data augmentation (rotation, zoom, flip, brightness) · EarlyStopping · ReduceLROnPlateau · 2-phase training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11480" y="4178808"/>
            <a:ext cx="8412480" cy="713232"/>
          </a:xfrm>
          <a:prstGeom prst="rect">
            <a:avLst/>
          </a:prstGeom>
          <a:solidFill>
            <a:srgbClr val="112911"/>
          </a:solidFill>
          <a:ln w="12700">
            <a:solidFill>
              <a:srgbClr val="F472B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411480" y="4178808"/>
            <a:ext cx="64008" cy="713232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548640" y="4224528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</a:rPr>
              <a:t>Resume: Deployed the prediction system via a simple web application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48640" y="4489704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▶  Flask REST API · Drag-and-drop UI · Real-time inference · Treatment &amp; prevention recommendations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F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731520" y="82296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6" name="Shape 4"/>
          <p:cNvSpPr/>
          <p:nvPr/>
        </p:nvSpPr>
        <p:spPr>
          <a:xfrm>
            <a:off x="731520" y="1783080"/>
            <a:ext cx="4572000" cy="457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731520" y="192024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94A3B8"/>
                </a:solidFill>
              </a:rPr>
              <a:t>PlantScan AI — Plant Health Prediction System</a:t>
            </a:r>
            <a:endParaRPr lang="en-US" sz="13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94A3B8"/>
                </a:solidFill>
              </a:rPr>
              <a:t>IBM SkillsBuild Data Analytics Intern Project (CSRBOX)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1520" y="2834640"/>
            <a:ext cx="2011680" cy="685800"/>
          </a:xfrm>
          <a:prstGeom prst="rect">
            <a:avLst/>
          </a:prstGeom>
          <a:solidFill>
            <a:srgbClr val="112911"/>
          </a:solidFill>
          <a:ln w="1270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731520" y="2871216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0B981"/>
                </a:solidFill>
              </a:rPr>
              <a:t>Name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731520" y="3127248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Smit Velani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880360" y="2834640"/>
            <a:ext cx="2011680" cy="685800"/>
          </a:xfrm>
          <a:prstGeom prst="rect">
            <a:avLst/>
          </a:prstGeom>
          <a:solidFill>
            <a:srgbClr val="112911"/>
          </a:solidFill>
          <a:ln w="1270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2880360" y="2871216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0B981"/>
                </a:solidFill>
              </a:rPr>
              <a:t>Accuracy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2880360" y="3127248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89.18%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0" y="2834640"/>
            <a:ext cx="2011680" cy="685800"/>
          </a:xfrm>
          <a:prstGeom prst="rect">
            <a:avLst/>
          </a:prstGeom>
          <a:solidFill>
            <a:srgbClr val="112911"/>
          </a:solidFill>
          <a:ln w="1270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5029200" y="2871216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0B981"/>
                </a:solidFill>
              </a:rPr>
              <a:t>Classes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029200" y="3127248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15 Diseases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178040" y="2834640"/>
            <a:ext cx="2011680" cy="685800"/>
          </a:xfrm>
          <a:prstGeom prst="rect">
            <a:avLst/>
          </a:prstGeom>
          <a:solidFill>
            <a:srgbClr val="112911"/>
          </a:solidFill>
          <a:ln w="1270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7178040" y="2871216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0B981"/>
                </a:solidFill>
              </a:rPr>
              <a:t>Internship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7178040" y="3127248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IBM SkillsBuild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31520" y="4480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Built with  Python  ·  Flask  ·  TensorFlow  ·  OpenCV  ·  MobileNetV2  ·  PlantVillage Dataset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840</Words>
  <Application>Microsoft Office PowerPoint</Application>
  <PresentationFormat>On-screen Show (16:9)</PresentationFormat>
  <Paragraphs>203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PlantScan AI — Plant Health Prediction System</dc:title>
  <dc:subject>PptxGenJS Presentation</dc:subject>
  <dc:creator>Smit Velani</dc:creator>
  <cp:lastModifiedBy>Smitkumar Jayendrakumar Velani</cp:lastModifiedBy>
  <cp:revision>2</cp:revision>
  <dcterms:created xsi:type="dcterms:W3CDTF">2026-04-04T07:17:28Z</dcterms:created>
  <dcterms:modified xsi:type="dcterms:W3CDTF">2026-04-04T07:24:11Z</dcterms:modified>
</cp:coreProperties>
</file>